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1" r:id="rId5"/>
    <p:sldId id="260" r:id="rId6"/>
    <p:sldId id="262" r:id="rId7"/>
    <p:sldId id="264" r:id="rId8"/>
    <p:sldId id="263" r:id="rId9"/>
    <p:sldId id="258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49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2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0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9BB5AD-28E9-4224-84AD-DF61365367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685800"/>
            <a:ext cx="8398004" cy="2156254"/>
          </a:xfrm>
        </p:spPr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Этап 2. ПЛАНИРОВАНИЕ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521ED48-4C98-4090-AAF8-EACCB361AE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666349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Проект на платформе «Проектива»</a:t>
            </a:r>
          </a:p>
          <a:p>
            <a:endParaRPr lang="ru-RU" dirty="0"/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D47AC2C7-C460-4DAA-B597-61E392DBE6A8}"/>
              </a:ext>
            </a:extLst>
          </p:cNvPr>
          <p:cNvSpPr txBox="1">
            <a:spLocks/>
          </p:cNvSpPr>
          <p:nvPr/>
        </p:nvSpPr>
        <p:spPr>
          <a:xfrm>
            <a:off x="684212" y="685800"/>
            <a:ext cx="6400800" cy="6663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1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WebBlog</a:t>
            </a:r>
            <a:endParaRPr lang="ru-RU" sz="4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485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A0DE6E-C3CE-459E-8DF2-51C92A298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644" y="397246"/>
            <a:ext cx="8534400" cy="801360"/>
          </a:xfrm>
        </p:spPr>
        <p:txBody>
          <a:bodyPr/>
          <a:lstStyle/>
          <a:p>
            <a:r>
              <a:rPr lang="ru-RU" dirty="0"/>
              <a:t>План митинга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0C04CA-6957-418C-BD55-2AA498D20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644" y="1359244"/>
            <a:ext cx="8534400" cy="4015945"/>
          </a:xfrm>
        </p:spPr>
        <p:txBody>
          <a:bodyPr/>
          <a:lstStyle/>
          <a:p>
            <a:r>
              <a:rPr lang="ru-RU" dirty="0"/>
              <a:t>0. Итоги этапа 1 Инициация</a:t>
            </a:r>
          </a:p>
          <a:p>
            <a:r>
              <a:rPr lang="ru-RU" dirty="0"/>
              <a:t>1. Этап планирования ПП – 2 части</a:t>
            </a:r>
          </a:p>
          <a:p>
            <a:r>
              <a:rPr lang="ru-RU" dirty="0"/>
              <a:t>2. Этапы работ </a:t>
            </a:r>
            <a:r>
              <a:rPr lang="en-US" dirty="0"/>
              <a:t>WBS</a:t>
            </a:r>
            <a:r>
              <a:rPr lang="ru-RU" dirty="0"/>
              <a:t> по проекту</a:t>
            </a:r>
          </a:p>
          <a:p>
            <a:r>
              <a:rPr lang="ru-RU" dirty="0"/>
              <a:t>3. </a:t>
            </a:r>
            <a:r>
              <a:rPr lang="en-US" dirty="0"/>
              <a:t>WBS </a:t>
            </a:r>
            <a:r>
              <a:rPr lang="ru-RU" dirty="0"/>
              <a:t>по разработке</a:t>
            </a:r>
          </a:p>
          <a:p>
            <a:r>
              <a:rPr lang="ru-RU" dirty="0"/>
              <a:t>4. Лента участия стейкхолдеров</a:t>
            </a:r>
            <a:endParaRPr lang="en-US" dirty="0"/>
          </a:p>
          <a:p>
            <a:r>
              <a:rPr lang="ru-RU" dirty="0"/>
              <a:t>5. Цели, сроки, дедлайны  </a:t>
            </a:r>
          </a:p>
          <a:p>
            <a:r>
              <a:rPr lang="ru-RU" dirty="0"/>
              <a:t>6. Задачи этапа </a:t>
            </a:r>
            <a:r>
              <a:rPr lang="ru-RU" b="1" dirty="0"/>
              <a:t>ПРОЕКТИВАНИЕ</a:t>
            </a:r>
          </a:p>
          <a:p>
            <a:r>
              <a:rPr lang="ru-RU" dirty="0"/>
              <a:t>7. Вопросы</a:t>
            </a:r>
          </a:p>
        </p:txBody>
      </p:sp>
    </p:spTree>
    <p:extLst>
      <p:ext uri="{BB962C8B-B14F-4D97-AF65-F5344CB8AC3E}">
        <p14:creationId xmlns:p14="http://schemas.microsoft.com/office/powerpoint/2010/main" val="4280365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C31A4A-E529-4F59-AC6A-FCFF9082A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638" y="319734"/>
            <a:ext cx="9423615" cy="916575"/>
          </a:xfrm>
        </p:spPr>
        <p:txBody>
          <a:bodyPr/>
          <a:lstStyle/>
          <a:p>
            <a:r>
              <a:rPr lang="ru-RU" dirty="0"/>
              <a:t>ИТОГИ ЭТАПА 1 Инициация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B620F9-E6B3-44A1-ABE9-47CF4B578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638" y="1236309"/>
            <a:ext cx="8645139" cy="41328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   Результат этапа – </a:t>
            </a:r>
            <a:r>
              <a:rPr lang="ru-RU" dirty="0"/>
              <a:t>итоговый документ Устав проекта</a:t>
            </a:r>
          </a:p>
          <a:p>
            <a:endParaRPr lang="ru-RU" b="1" dirty="0"/>
          </a:p>
          <a:p>
            <a:r>
              <a:rPr lang="ru-RU" b="1" dirty="0"/>
              <a:t>Структура проекта:</a:t>
            </a:r>
            <a:r>
              <a:rPr lang="ru-RU" dirty="0"/>
              <a:t> задачи соответствуют веткам</a:t>
            </a:r>
          </a:p>
          <a:p>
            <a:r>
              <a:rPr lang="ru-RU" b="1" dirty="0"/>
              <a:t>Доска отражает результаты</a:t>
            </a:r>
          </a:p>
          <a:p>
            <a:r>
              <a:rPr lang="ru-RU" b="1" dirty="0"/>
              <a:t>Оценки участия и участников</a:t>
            </a:r>
          </a:p>
          <a:p>
            <a:r>
              <a:rPr lang="ru-RU" b="1" dirty="0"/>
              <a:t>Итоги – что можно сделать лучше</a:t>
            </a:r>
          </a:p>
        </p:txBody>
      </p:sp>
    </p:spTree>
    <p:extLst>
      <p:ext uri="{BB962C8B-B14F-4D97-AF65-F5344CB8AC3E}">
        <p14:creationId xmlns:p14="http://schemas.microsoft.com/office/powerpoint/2010/main" val="455693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C31A4A-E529-4F59-AC6A-FCFF9082A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638" y="331457"/>
            <a:ext cx="9423615" cy="916575"/>
          </a:xfrm>
        </p:spPr>
        <p:txBody>
          <a:bodyPr/>
          <a:lstStyle/>
          <a:p>
            <a:r>
              <a:rPr lang="ru-RU" dirty="0"/>
              <a:t>Этап планирования ПП – 2 части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B620F9-E6B3-44A1-ABE9-47CF4B578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638" y="1421029"/>
            <a:ext cx="9223162" cy="736018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buAutoNum type="arabicPeriod"/>
            </a:pPr>
            <a:r>
              <a:rPr lang="ru-RU" b="1" dirty="0"/>
              <a:t>Общее планирование </a:t>
            </a:r>
          </a:p>
          <a:p>
            <a:pPr marL="457200" indent="-457200">
              <a:buAutoNum type="arabicPeriod"/>
            </a:pPr>
            <a:r>
              <a:rPr lang="ru-RU" b="1" dirty="0"/>
              <a:t>Планирование реализации продукта </a:t>
            </a:r>
            <a:r>
              <a:rPr lang="ru-RU" dirty="0"/>
              <a:t>– жизненный цикл разработки</a:t>
            </a: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4287F05-6C30-4358-82EA-3AB40C268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908" y="2466526"/>
            <a:ext cx="7014108" cy="297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315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C31A4A-E529-4F59-AC6A-FCFF9082A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638" y="331457"/>
            <a:ext cx="9423615" cy="916575"/>
          </a:xfrm>
        </p:spPr>
        <p:txBody>
          <a:bodyPr/>
          <a:lstStyle/>
          <a:p>
            <a:r>
              <a:rPr lang="ru-RU" dirty="0"/>
              <a:t>Этапы работ </a:t>
            </a:r>
            <a:r>
              <a:rPr lang="en-US" dirty="0"/>
              <a:t>WBS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B620F9-E6B3-44A1-ABE9-47CF4B578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3053" y="1414583"/>
            <a:ext cx="3235570" cy="197729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u-RU" sz="2500" dirty="0"/>
              <a:t>Инициация.</a:t>
            </a:r>
          </a:p>
          <a:p>
            <a:r>
              <a:rPr lang="ru-RU" dirty="0"/>
              <a:t> Сделать описание проекта</a:t>
            </a:r>
          </a:p>
          <a:p>
            <a:r>
              <a:rPr lang="ru-RU" dirty="0"/>
              <a:t> Разработка и согласование устава проекта </a:t>
            </a:r>
          </a:p>
          <a:p>
            <a:r>
              <a:rPr lang="ru-RU" dirty="0"/>
              <a:t>Выявление ключевых стейкхолдеров </a:t>
            </a:r>
          </a:p>
          <a:p>
            <a:r>
              <a:rPr lang="ru-RU" dirty="0"/>
              <a:t>Определение бизнес-требований и целей MVP </a:t>
            </a:r>
          </a:p>
          <a:p>
            <a:r>
              <a:rPr lang="ru-RU" dirty="0"/>
              <a:t>Первичная оценка рисков и ограничений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A98DA92-3363-4603-B5CC-3F2B60F7B3E5}"/>
              </a:ext>
            </a:extLst>
          </p:cNvPr>
          <p:cNvSpPr/>
          <p:nvPr/>
        </p:nvSpPr>
        <p:spPr>
          <a:xfrm>
            <a:off x="4272481" y="1430212"/>
            <a:ext cx="3647038" cy="15850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  <a:spcAft>
                <a:spcPts val="600"/>
              </a:spcAft>
              <a:buClr>
                <a:prstClr val="white"/>
              </a:buClr>
              <a:buSzPct val="80000"/>
            </a:pPr>
            <a:r>
              <a:rPr lang="ru-RU" sz="1200" dirty="0">
                <a:solidFill>
                  <a:srgbClr val="146194">
                    <a:lumMod val="75000"/>
                  </a:srgbClr>
                </a:solidFill>
              </a:rPr>
              <a:t>ПЛАНИРОВАНИЕ (10.11 - 14.11)</a:t>
            </a:r>
          </a:p>
          <a:p>
            <a:pPr marL="285750" lvl="0" indent="-285750">
              <a:spcBef>
                <a:spcPct val="20000"/>
              </a:spcBef>
              <a:spcAft>
                <a:spcPts val="600"/>
              </a:spcAft>
              <a:buClr>
                <a:prstClr val="white"/>
              </a:buClr>
              <a:buSzPct val="80000"/>
              <a:buFont typeface="Wingdings 3" panose="05040102010807070707" pitchFamily="18" charset="2"/>
              <a:buChar char=""/>
            </a:pPr>
            <a:r>
              <a:rPr lang="ru-RU" sz="1000" dirty="0">
                <a:solidFill>
                  <a:srgbClr val="146194">
                    <a:lumMod val="75000"/>
                  </a:srgbClr>
                </a:solidFill>
              </a:rPr>
              <a:t> Создание </a:t>
            </a:r>
            <a:r>
              <a:rPr lang="en-US" sz="1000" dirty="0">
                <a:solidFill>
                  <a:srgbClr val="146194">
                    <a:lumMod val="75000"/>
                  </a:srgbClr>
                </a:solidFill>
              </a:rPr>
              <a:t>Product Roadmap</a:t>
            </a:r>
            <a:endParaRPr lang="ru-RU" sz="1000" dirty="0">
              <a:solidFill>
                <a:srgbClr val="146194">
                  <a:lumMod val="75000"/>
                </a:srgbClr>
              </a:solidFill>
            </a:endParaRPr>
          </a:p>
          <a:p>
            <a:pPr marL="285750" lvl="0" indent="-285750">
              <a:spcBef>
                <a:spcPct val="20000"/>
              </a:spcBef>
              <a:spcAft>
                <a:spcPts val="600"/>
              </a:spcAft>
              <a:buClr>
                <a:prstClr val="white"/>
              </a:buClr>
              <a:buSzPct val="80000"/>
              <a:buFont typeface="Wingdings 3" panose="05040102010807070707" pitchFamily="18" charset="2"/>
              <a:buChar char=""/>
            </a:pPr>
            <a:r>
              <a:rPr lang="ru-RU" sz="1000" dirty="0">
                <a:solidFill>
                  <a:srgbClr val="146194">
                    <a:lumMod val="75000"/>
                  </a:srgbClr>
                </a:solidFill>
              </a:rPr>
              <a:t>Разработка UI/UX дизайна и прототипов</a:t>
            </a:r>
          </a:p>
          <a:p>
            <a:pPr marL="285750" lvl="0" indent="-285750">
              <a:spcBef>
                <a:spcPct val="20000"/>
              </a:spcBef>
              <a:spcAft>
                <a:spcPts val="600"/>
              </a:spcAft>
              <a:buClr>
                <a:prstClr val="white"/>
              </a:buClr>
              <a:buSzPct val="80000"/>
              <a:buFont typeface="Wingdings 3" panose="05040102010807070707" pitchFamily="18" charset="2"/>
              <a:buChar char=""/>
            </a:pPr>
            <a:r>
              <a:rPr lang="ru-RU" sz="1000" dirty="0">
                <a:solidFill>
                  <a:srgbClr val="146194">
                    <a:lumMod val="75000"/>
                  </a:srgbClr>
                </a:solidFill>
              </a:rPr>
              <a:t>Планирование технической архитектуры</a:t>
            </a:r>
          </a:p>
          <a:p>
            <a:pPr marL="285750" lvl="0" indent="-285750">
              <a:spcBef>
                <a:spcPct val="20000"/>
              </a:spcBef>
              <a:spcAft>
                <a:spcPts val="600"/>
              </a:spcAft>
              <a:buClr>
                <a:prstClr val="white"/>
              </a:buClr>
              <a:buSzPct val="80000"/>
              <a:buFont typeface="Wingdings 3" panose="05040102010807070707" pitchFamily="18" charset="2"/>
              <a:buChar char=""/>
            </a:pPr>
            <a:r>
              <a:rPr lang="ru-RU" sz="1000" dirty="0">
                <a:solidFill>
                  <a:srgbClr val="146194">
                    <a:lumMod val="75000"/>
                  </a:srgbClr>
                </a:solidFill>
              </a:rPr>
              <a:t>Формирование бэклога разработки</a:t>
            </a:r>
          </a:p>
          <a:p>
            <a:pPr marL="285750" lvl="0" indent="-285750">
              <a:spcBef>
                <a:spcPct val="20000"/>
              </a:spcBef>
              <a:spcAft>
                <a:spcPts val="600"/>
              </a:spcAft>
              <a:buClr>
                <a:prstClr val="white"/>
              </a:buClr>
              <a:buSzPct val="80000"/>
              <a:buFont typeface="Wingdings 3" panose="05040102010807070707" pitchFamily="18" charset="2"/>
              <a:buChar char=""/>
            </a:pPr>
            <a:r>
              <a:rPr lang="ru-RU" sz="1000" dirty="0">
                <a:solidFill>
                  <a:srgbClr val="146194">
                    <a:lumMod val="75000"/>
                  </a:srgbClr>
                </a:solidFill>
              </a:rPr>
              <a:t>Утверждение плана проекта 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3F96FA3-FC6D-4699-AFBD-A72F21A46DA2}"/>
              </a:ext>
            </a:extLst>
          </p:cNvPr>
          <p:cNvSpPr/>
          <p:nvPr/>
        </p:nvSpPr>
        <p:spPr>
          <a:xfrm>
            <a:off x="7603359" y="1414583"/>
            <a:ext cx="3861809" cy="15850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  <a:spcAft>
                <a:spcPts val="600"/>
              </a:spcAft>
              <a:buClr>
                <a:prstClr val="white"/>
              </a:buClr>
              <a:buSzPct val="80000"/>
            </a:pPr>
            <a:r>
              <a:rPr lang="ru-RU" sz="1200" dirty="0">
                <a:solidFill>
                  <a:srgbClr val="146194">
                    <a:lumMod val="75000"/>
                  </a:srgbClr>
                </a:solidFill>
              </a:rPr>
              <a:t>РЕАЛИЗАЦИЯ (17.11 - 05.12)</a:t>
            </a:r>
          </a:p>
          <a:p>
            <a:pPr marL="285750" lvl="0" indent="-285750">
              <a:spcBef>
                <a:spcPct val="20000"/>
              </a:spcBef>
              <a:spcAft>
                <a:spcPts val="600"/>
              </a:spcAft>
              <a:buClr>
                <a:prstClr val="white"/>
              </a:buClr>
              <a:buSzPct val="80000"/>
              <a:buFont typeface="Wingdings 3" panose="05040102010807070707" pitchFamily="18" charset="2"/>
              <a:buChar char=""/>
            </a:pPr>
            <a:r>
              <a:rPr lang="ru-RU" sz="1000" dirty="0">
                <a:solidFill>
                  <a:srgbClr val="146194">
                    <a:lumMod val="75000"/>
                  </a:srgbClr>
                </a:solidFill>
              </a:rPr>
              <a:t>Реализация бэкенд-функциональности (API, БД)</a:t>
            </a:r>
          </a:p>
          <a:p>
            <a:pPr marL="285750" lvl="0" indent="-285750">
              <a:spcBef>
                <a:spcPct val="20000"/>
              </a:spcBef>
              <a:spcAft>
                <a:spcPts val="600"/>
              </a:spcAft>
              <a:buClr>
                <a:prstClr val="white"/>
              </a:buClr>
              <a:buSzPct val="80000"/>
              <a:buFont typeface="Wingdings 3" panose="05040102010807070707" pitchFamily="18" charset="2"/>
              <a:buChar char=""/>
            </a:pPr>
            <a:r>
              <a:rPr lang="ru-RU" sz="1000" dirty="0">
                <a:solidFill>
                  <a:srgbClr val="146194">
                    <a:lumMod val="75000"/>
                  </a:srgbClr>
                </a:solidFill>
              </a:rPr>
              <a:t>Разработка фронтенд-компонентов</a:t>
            </a:r>
          </a:p>
          <a:p>
            <a:pPr marL="285750" lvl="0" indent="-285750">
              <a:spcBef>
                <a:spcPct val="20000"/>
              </a:spcBef>
              <a:spcAft>
                <a:spcPts val="600"/>
              </a:spcAft>
              <a:buClr>
                <a:prstClr val="white"/>
              </a:buClr>
              <a:buSzPct val="80000"/>
              <a:buFont typeface="Wingdings 3" panose="05040102010807070707" pitchFamily="18" charset="2"/>
              <a:buChar char=""/>
            </a:pPr>
            <a:r>
              <a:rPr lang="ru-RU" sz="1000" dirty="0">
                <a:solidFill>
                  <a:srgbClr val="146194">
                    <a:lumMod val="75000"/>
                  </a:srgbClr>
                </a:solidFill>
              </a:rPr>
              <a:t>Интеграция фронтенда и бэкенда</a:t>
            </a:r>
          </a:p>
          <a:p>
            <a:pPr marL="285750" lvl="0" indent="-285750">
              <a:spcBef>
                <a:spcPct val="20000"/>
              </a:spcBef>
              <a:spcAft>
                <a:spcPts val="600"/>
              </a:spcAft>
              <a:buClr>
                <a:prstClr val="white"/>
              </a:buClr>
              <a:buSzPct val="80000"/>
              <a:buFont typeface="Wingdings 3" panose="05040102010807070707" pitchFamily="18" charset="2"/>
              <a:buChar char=""/>
            </a:pPr>
            <a:r>
              <a:rPr lang="ru-RU" sz="1000" dirty="0">
                <a:solidFill>
                  <a:srgbClr val="146194">
                    <a:lumMod val="75000"/>
                  </a:srgbClr>
                </a:solidFill>
              </a:rPr>
              <a:t>Тестирование функциональности</a:t>
            </a:r>
          </a:p>
          <a:p>
            <a:pPr marL="285750" lvl="0" indent="-285750">
              <a:spcBef>
                <a:spcPct val="20000"/>
              </a:spcBef>
              <a:spcAft>
                <a:spcPts val="600"/>
              </a:spcAft>
              <a:buClr>
                <a:prstClr val="white"/>
              </a:buClr>
              <a:buSzPct val="80000"/>
              <a:buFont typeface="Wingdings 3" panose="05040102010807070707" pitchFamily="18" charset="2"/>
              <a:buChar char=""/>
            </a:pPr>
            <a:r>
              <a:rPr lang="ru-RU" sz="1000" dirty="0">
                <a:solidFill>
                  <a:srgbClr val="146194">
                    <a:lumMod val="75000"/>
                  </a:srgbClr>
                </a:solidFill>
              </a:rPr>
              <a:t>Подготовка к релизу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8A2546B-4F90-434B-B614-1467398B4A85}"/>
              </a:ext>
            </a:extLst>
          </p:cNvPr>
          <p:cNvSpPr/>
          <p:nvPr/>
        </p:nvSpPr>
        <p:spPr>
          <a:xfrm>
            <a:off x="969107" y="4349910"/>
            <a:ext cx="4095262" cy="20013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F1115"/>
                </a:solidFill>
                <a:latin typeface="quote-cjk-patch"/>
              </a:rPr>
              <a:t>ЗАКРЫТИЕ (08.12 - 12.12) 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sz="1200" dirty="0">
                <a:solidFill>
                  <a:srgbClr val="0F1115"/>
                </a:solidFill>
                <a:latin typeface="quote-cjk-patch"/>
              </a:rPr>
              <a:t>Проведение приемочного тестирования 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sz="1200" dirty="0">
                <a:solidFill>
                  <a:srgbClr val="0F1115"/>
                </a:solidFill>
                <a:latin typeface="quote-cjk-patch"/>
              </a:rPr>
              <a:t>Деплой на </a:t>
            </a:r>
            <a:r>
              <a:rPr lang="ru-RU" sz="1200" dirty="0" err="1">
                <a:solidFill>
                  <a:srgbClr val="0F1115"/>
                </a:solidFill>
                <a:latin typeface="quote-cjk-patch"/>
              </a:rPr>
              <a:t>продакшн</a:t>
            </a:r>
            <a:r>
              <a:rPr lang="ru-RU" sz="1200" dirty="0">
                <a:solidFill>
                  <a:srgbClr val="0F1115"/>
                </a:solidFill>
                <a:latin typeface="quote-cjk-patch"/>
              </a:rPr>
              <a:t>-сервер 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sz="1200" dirty="0">
                <a:solidFill>
                  <a:srgbClr val="0F1115"/>
                </a:solidFill>
                <a:latin typeface="quote-cjk-patch"/>
              </a:rPr>
              <a:t>Финализация документации 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sz="1200" dirty="0">
                <a:solidFill>
                  <a:srgbClr val="0F1115"/>
                </a:solidFill>
                <a:latin typeface="quote-cjk-patch"/>
              </a:rPr>
              <a:t>Проведение ретроспективы проекта 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sz="1200" dirty="0">
                <a:solidFill>
                  <a:srgbClr val="0F1115"/>
                </a:solidFill>
                <a:latin typeface="quote-cjk-patch"/>
              </a:rPr>
              <a:t>Оценка достижения целей проекта 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sz="1200" dirty="0">
                <a:solidFill>
                  <a:srgbClr val="0F1115"/>
                </a:solidFill>
                <a:latin typeface="quote-cjk-patch"/>
              </a:rPr>
              <a:t>Формальное закрытие проекта и отчетность</a:t>
            </a:r>
            <a:endParaRPr lang="ru-RU" sz="12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0BFB206-845C-4B4D-996A-861F2C9CA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107" y="3382107"/>
            <a:ext cx="8064467" cy="853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271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C31A4A-E529-4F59-AC6A-FCFF9082A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638" y="331457"/>
            <a:ext cx="9423615" cy="916575"/>
          </a:xfrm>
        </p:spPr>
        <p:txBody>
          <a:bodyPr/>
          <a:lstStyle/>
          <a:p>
            <a:r>
              <a:rPr lang="en-US" dirty="0" err="1"/>
              <a:t>Wbs</a:t>
            </a:r>
            <a:r>
              <a:rPr lang="en-US" dirty="0"/>
              <a:t> </a:t>
            </a:r>
            <a:r>
              <a:rPr lang="ru-RU" dirty="0"/>
              <a:t>по </a:t>
            </a:r>
            <a:r>
              <a:rPr lang="ru-RU" dirty="0" err="1"/>
              <a:t>разРаработке</a:t>
            </a:r>
            <a:r>
              <a:rPr lang="ru-RU" dirty="0"/>
              <a:t> ПП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B620F9-E6B3-44A1-ABE9-47CF4B578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403" y="1541363"/>
            <a:ext cx="2361254" cy="1324709"/>
          </a:xfrm>
        </p:spPr>
        <p:txBody>
          <a:bodyPr>
            <a:normAutofit fontScale="40000" lnSpcReduction="20000"/>
          </a:bodyPr>
          <a:lstStyle/>
          <a:p>
            <a:r>
              <a:rPr lang="ru-RU" b="1" dirty="0"/>
              <a:t>Анализ и проектирование (35%)</a:t>
            </a:r>
            <a:endParaRPr lang="ru-RU" dirty="0"/>
          </a:p>
          <a:p>
            <a:r>
              <a:rPr lang="ru-RU" dirty="0"/>
              <a:t>Сбор и анализ требований</a:t>
            </a:r>
          </a:p>
          <a:p>
            <a:r>
              <a:rPr lang="ru-RU" dirty="0"/>
              <a:t>Проектирование архитектуры</a:t>
            </a:r>
          </a:p>
          <a:p>
            <a:r>
              <a:rPr lang="ru-RU" dirty="0"/>
              <a:t>Создание UI/UX прототипов</a:t>
            </a:r>
          </a:p>
          <a:p>
            <a:r>
              <a:rPr lang="ru-RU" dirty="0"/>
              <a:t>Разработка технической документации</a:t>
            </a:r>
          </a:p>
          <a:p>
            <a:r>
              <a:rPr lang="ru-RU" dirty="0"/>
              <a:t>Спринт планирование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CD4D25E2-B2B6-481E-9F08-01F75B959C94}"/>
              </a:ext>
            </a:extLst>
          </p:cNvPr>
          <p:cNvSpPr txBox="1">
            <a:spLocks/>
          </p:cNvSpPr>
          <p:nvPr/>
        </p:nvSpPr>
        <p:spPr>
          <a:xfrm>
            <a:off x="3191576" y="1541363"/>
            <a:ext cx="2294824" cy="1066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Разработка и реализация (20%)</a:t>
            </a:r>
            <a:endParaRPr lang="ru-RU" dirty="0"/>
          </a:p>
          <a:p>
            <a:r>
              <a:rPr lang="ru-RU" dirty="0"/>
              <a:t>Написание кода</a:t>
            </a:r>
          </a:p>
          <a:p>
            <a:r>
              <a:rPr lang="ru-RU" dirty="0"/>
              <a:t>Интеграция модулей</a:t>
            </a:r>
          </a:p>
          <a:p>
            <a:r>
              <a:rPr lang="ru-RU" dirty="0"/>
              <a:t>Настройка CI/CD</a:t>
            </a:r>
          </a:p>
          <a:p>
            <a:r>
              <a:rPr lang="ru-RU" dirty="0"/>
              <a:t>Код-ревью и рефакторинг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D72C4A3-97BD-45B5-AE56-B2F2CFC85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638" y="3349451"/>
            <a:ext cx="4286038" cy="2131309"/>
          </a:xfrm>
          <a:prstGeom prst="rect">
            <a:avLst/>
          </a:prstGeom>
        </p:spPr>
      </p:pic>
      <p:sp>
        <p:nvSpPr>
          <p:cNvPr id="11" name="Объект 2">
            <a:extLst>
              <a:ext uri="{FF2B5EF4-FFF2-40B4-BE49-F238E27FC236}">
                <a16:creationId xmlns:a16="http://schemas.microsoft.com/office/drawing/2014/main" id="{F692E51D-E0F7-4C1F-BEC9-1568D1D1F26C}"/>
              </a:ext>
            </a:extLst>
          </p:cNvPr>
          <p:cNvSpPr txBox="1">
            <a:spLocks/>
          </p:cNvSpPr>
          <p:nvPr/>
        </p:nvSpPr>
        <p:spPr>
          <a:xfrm>
            <a:off x="5558190" y="1541363"/>
            <a:ext cx="2294824" cy="1066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Тестирование и QA (30%)</a:t>
            </a:r>
            <a:endParaRPr lang="ru-RU" dirty="0"/>
          </a:p>
          <a:p>
            <a:r>
              <a:rPr lang="ru-RU" dirty="0"/>
              <a:t>Функциональное тестирование</a:t>
            </a:r>
          </a:p>
          <a:p>
            <a:r>
              <a:rPr lang="ru-RU" dirty="0"/>
              <a:t>Нагрузочное тестирование</a:t>
            </a:r>
          </a:p>
          <a:p>
            <a:r>
              <a:rPr lang="ru-RU" dirty="0"/>
              <a:t>UAT-тестирование</a:t>
            </a:r>
          </a:p>
          <a:p>
            <a:r>
              <a:rPr lang="ru-RU" dirty="0"/>
              <a:t>Исправление дефектов</a:t>
            </a: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FEBCCDA6-327E-4D99-BD01-5445FF50DA8B}"/>
              </a:ext>
            </a:extLst>
          </p:cNvPr>
          <p:cNvSpPr txBox="1">
            <a:spLocks/>
          </p:cNvSpPr>
          <p:nvPr/>
        </p:nvSpPr>
        <p:spPr>
          <a:xfrm>
            <a:off x="7924804" y="1541363"/>
            <a:ext cx="2294824" cy="1066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ru-RU" sz="800" b="1" dirty="0"/>
              <a:t>Внедрение и развертывание (10%)</a:t>
            </a:r>
            <a:endParaRPr lang="ru-RU" sz="800" dirty="0"/>
          </a:p>
          <a:p>
            <a:r>
              <a:rPr lang="ru-RU" sz="800" dirty="0"/>
              <a:t>Развертывание в </a:t>
            </a:r>
            <a:r>
              <a:rPr lang="ru-RU" sz="800" dirty="0" err="1"/>
              <a:t>production</a:t>
            </a:r>
            <a:endParaRPr lang="ru-RU" sz="800" dirty="0"/>
          </a:p>
          <a:p>
            <a:r>
              <a:rPr lang="ru-RU" sz="800" dirty="0"/>
              <a:t>Миграция данных</a:t>
            </a:r>
          </a:p>
          <a:p>
            <a:r>
              <a:rPr lang="ru-RU" sz="800" dirty="0"/>
              <a:t>Обучение пользователей</a:t>
            </a:r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E4127830-F6BA-41E0-AAB7-B6C7A55C4783}"/>
              </a:ext>
            </a:extLst>
          </p:cNvPr>
          <p:cNvSpPr txBox="1">
            <a:spLocks/>
          </p:cNvSpPr>
          <p:nvPr/>
        </p:nvSpPr>
        <p:spPr>
          <a:xfrm>
            <a:off x="5558190" y="3183036"/>
            <a:ext cx="2616702" cy="1066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ru-RU" sz="800" b="1" dirty="0"/>
              <a:t>Эксплуатация* и сопровождение (5%)</a:t>
            </a:r>
            <a:endParaRPr lang="ru-RU" sz="800" dirty="0"/>
          </a:p>
          <a:p>
            <a:r>
              <a:rPr lang="ru-RU" sz="800" dirty="0"/>
              <a:t>Техническая поддержка</a:t>
            </a:r>
          </a:p>
          <a:p>
            <a:r>
              <a:rPr lang="ru-RU" sz="800" dirty="0"/>
              <a:t>Мониторинг и обслуживание</a:t>
            </a:r>
          </a:p>
          <a:p>
            <a:r>
              <a:rPr lang="ru-RU" sz="800" dirty="0"/>
              <a:t>Незначительные доработки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694FFF1-EF48-4F6D-80E2-6D80586696D5}"/>
              </a:ext>
            </a:extLst>
          </p:cNvPr>
          <p:cNvSpPr/>
          <p:nvPr/>
        </p:nvSpPr>
        <p:spPr>
          <a:xfrm>
            <a:off x="5912828" y="4522151"/>
            <a:ext cx="1438214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900" b="1" dirty="0">
                <a:solidFill>
                  <a:srgbClr val="0F496F"/>
                </a:solidFill>
              </a:rPr>
              <a:t>*</a:t>
            </a:r>
            <a:r>
              <a:rPr lang="ru-RU" sz="900" dirty="0">
                <a:solidFill>
                  <a:srgbClr val="0F496F"/>
                </a:solidFill>
              </a:rPr>
              <a:t>для </a:t>
            </a:r>
            <a:r>
              <a:rPr lang="en-US" sz="900" dirty="0">
                <a:solidFill>
                  <a:srgbClr val="0F496F"/>
                </a:solidFill>
              </a:rPr>
              <a:t>MVP </a:t>
            </a:r>
            <a:r>
              <a:rPr lang="ru-RU" sz="900" dirty="0">
                <a:solidFill>
                  <a:srgbClr val="0F496F"/>
                </a:solidFill>
              </a:rPr>
              <a:t>не критично</a:t>
            </a:r>
          </a:p>
        </p:txBody>
      </p:sp>
    </p:spTree>
    <p:extLst>
      <p:ext uri="{BB962C8B-B14F-4D97-AF65-F5344CB8AC3E}">
        <p14:creationId xmlns:p14="http://schemas.microsoft.com/office/powerpoint/2010/main" val="3923446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C31A4A-E529-4F59-AC6A-FCFF9082A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638" y="331457"/>
            <a:ext cx="9423615" cy="916575"/>
          </a:xfrm>
        </p:spPr>
        <p:txBody>
          <a:bodyPr/>
          <a:lstStyle/>
          <a:p>
            <a:r>
              <a:rPr lang="en-US" dirty="0" err="1"/>
              <a:t>Wbs</a:t>
            </a:r>
            <a:r>
              <a:rPr lang="en-US" dirty="0"/>
              <a:t> </a:t>
            </a:r>
            <a:r>
              <a:rPr lang="ru-RU" dirty="0"/>
              <a:t>по </a:t>
            </a:r>
            <a:r>
              <a:rPr lang="ru-RU" dirty="0" err="1"/>
              <a:t>разРаработке</a:t>
            </a:r>
            <a:r>
              <a:rPr lang="ru-RU" dirty="0"/>
              <a:t> ПП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694FFF1-EF48-4F6D-80E2-6D80586696D5}"/>
              </a:ext>
            </a:extLst>
          </p:cNvPr>
          <p:cNvSpPr/>
          <p:nvPr/>
        </p:nvSpPr>
        <p:spPr>
          <a:xfrm>
            <a:off x="5912828" y="4522151"/>
            <a:ext cx="1438214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900" b="1" dirty="0">
                <a:solidFill>
                  <a:srgbClr val="0F496F"/>
                </a:solidFill>
              </a:rPr>
              <a:t>*</a:t>
            </a:r>
            <a:r>
              <a:rPr lang="ru-RU" sz="900" dirty="0">
                <a:solidFill>
                  <a:srgbClr val="0F496F"/>
                </a:solidFill>
              </a:rPr>
              <a:t>для </a:t>
            </a:r>
            <a:r>
              <a:rPr lang="en-US" sz="900" dirty="0">
                <a:solidFill>
                  <a:srgbClr val="0F496F"/>
                </a:solidFill>
              </a:rPr>
              <a:t>MVP </a:t>
            </a:r>
            <a:r>
              <a:rPr lang="ru-RU" sz="900" dirty="0">
                <a:solidFill>
                  <a:srgbClr val="0F496F"/>
                </a:solidFill>
              </a:rPr>
              <a:t>не критично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1860968-2623-40BB-85A1-2226C7A27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33" y="2488795"/>
            <a:ext cx="9356024" cy="2941062"/>
          </a:xfrm>
          <a:prstGeom prst="rect">
            <a:avLst/>
          </a:prstGeom>
        </p:spPr>
      </p:pic>
      <p:sp>
        <p:nvSpPr>
          <p:cNvPr id="16" name="Объект 2">
            <a:extLst>
              <a:ext uri="{FF2B5EF4-FFF2-40B4-BE49-F238E27FC236}">
                <a16:creationId xmlns:a16="http://schemas.microsoft.com/office/drawing/2014/main" id="{CD5724CF-A2CA-4C85-BE02-52C1C02DD4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638" y="1266988"/>
            <a:ext cx="2759839" cy="6008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Защита 15.12.2025</a:t>
            </a:r>
          </a:p>
        </p:txBody>
      </p:sp>
      <p:sp>
        <p:nvSpPr>
          <p:cNvPr id="18" name="Объект 2">
            <a:extLst>
              <a:ext uri="{FF2B5EF4-FFF2-40B4-BE49-F238E27FC236}">
                <a16:creationId xmlns:a16="http://schemas.microsoft.com/office/drawing/2014/main" id="{6F44589C-07AB-4653-A192-F0A2B68CFBE2}"/>
              </a:ext>
            </a:extLst>
          </p:cNvPr>
          <p:cNvSpPr txBox="1">
            <a:spLocks/>
          </p:cNvSpPr>
          <p:nvPr/>
        </p:nvSpPr>
        <p:spPr>
          <a:xfrm>
            <a:off x="733638" y="1754121"/>
            <a:ext cx="5069286" cy="5735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ru-RU" sz="1800" dirty="0"/>
              <a:t>Предварительная готовность 08.12.2025</a:t>
            </a:r>
          </a:p>
        </p:txBody>
      </p:sp>
    </p:spTree>
    <p:extLst>
      <p:ext uri="{BB962C8B-B14F-4D97-AF65-F5344CB8AC3E}">
        <p14:creationId xmlns:p14="http://schemas.microsoft.com/office/powerpoint/2010/main" val="2259360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C31A4A-E529-4F59-AC6A-FCFF9082A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638" y="331457"/>
            <a:ext cx="9423615" cy="916575"/>
          </a:xfrm>
        </p:spPr>
        <p:txBody>
          <a:bodyPr/>
          <a:lstStyle/>
          <a:p>
            <a:r>
              <a:rPr lang="ru-RU" dirty="0"/>
              <a:t>Лента участия стейкхолдеров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B620F9-E6B3-44A1-ABE9-47CF4B578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7846" y="1425725"/>
            <a:ext cx="5361355" cy="43504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План выполнения</a:t>
            </a:r>
          </a:p>
          <a:p>
            <a:pPr marL="0" indent="0">
              <a:buNone/>
            </a:pPr>
            <a:r>
              <a:rPr lang="ru-RU" dirty="0"/>
              <a:t>Задачи в «Проективе»</a:t>
            </a:r>
          </a:p>
          <a:p>
            <a:pPr marL="0" indent="0">
              <a:buNone/>
            </a:pPr>
            <a:r>
              <a:rPr lang="ru-RU" dirty="0"/>
              <a:t>Дерево коммитов (изменений) в репозитории </a:t>
            </a:r>
            <a:r>
              <a:rPr lang="en-US" dirty="0"/>
              <a:t>GitHub</a:t>
            </a:r>
          </a:p>
          <a:p>
            <a:pPr marL="0" indent="0">
              <a:buNone/>
            </a:pPr>
            <a:r>
              <a:rPr lang="ru-RU" dirty="0"/>
              <a:t>Изменения должны соответствовать плану выполнения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По каждому этапу – будет видеовстреча, участие опционально</a:t>
            </a: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5EF880F-D8D9-4C5D-A108-CB56FC66A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123" y="1387264"/>
            <a:ext cx="4698923" cy="4427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254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A15699C1-DA4A-40D9-AB08-9431FE865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74" y="2820984"/>
            <a:ext cx="9428896" cy="18506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    приблизительные даты защиты проектов в этом осеннем семестре:</a:t>
            </a:r>
            <a:br>
              <a:rPr lang="ru-RU" dirty="0"/>
            </a:br>
            <a:endParaRPr lang="ru-RU" dirty="0"/>
          </a:p>
          <a:p>
            <a:pPr marL="0" indent="0">
              <a:buNone/>
            </a:pPr>
            <a:r>
              <a:rPr lang="ru-RU" b="1" dirty="0"/>
              <a:t>     Основные дни: 15–19 декабря 2025 года    </a:t>
            </a:r>
            <a:br>
              <a:rPr lang="ru-RU" dirty="0"/>
            </a:br>
            <a:r>
              <a:rPr lang="ru-RU" dirty="0"/>
              <a:t>     </a:t>
            </a:r>
            <a:r>
              <a:rPr lang="ru-RU" b="1" dirty="0"/>
              <a:t>Резервные дни: 23–24 декабря 2025 года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F611EA3-AB99-4A91-AC2D-35621723802C}"/>
              </a:ext>
            </a:extLst>
          </p:cNvPr>
          <p:cNvSpPr/>
          <p:nvPr/>
        </p:nvSpPr>
        <p:spPr>
          <a:xfrm>
            <a:off x="684212" y="527561"/>
            <a:ext cx="639918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3711966252"/>
      </p:ext>
    </p:extLst>
  </p:cSld>
  <p:clrMapOvr>
    <a:masterClrMapping/>
  </p:clrMapOvr>
</p:sld>
</file>

<file path=ppt/theme/theme1.xml><?xml version="1.0" encoding="utf-8"?>
<a:theme xmlns:a="http://schemas.openxmlformats.org/drawingml/2006/main" name="Сектор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3545</TotalTime>
  <Words>331</Words>
  <Application>Microsoft Office PowerPoint</Application>
  <PresentationFormat>Широкоэкранный</PresentationFormat>
  <Paragraphs>86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Century Gothic</vt:lpstr>
      <vt:lpstr>Courier New</vt:lpstr>
      <vt:lpstr>quote-cjk-patch</vt:lpstr>
      <vt:lpstr>Wingdings 3</vt:lpstr>
      <vt:lpstr>Сектор</vt:lpstr>
      <vt:lpstr>Этап 2. ПЛАНИРОВАНИЕ</vt:lpstr>
      <vt:lpstr>План митинга</vt:lpstr>
      <vt:lpstr>ИТОГИ ЭТАПА 1 Инициация</vt:lpstr>
      <vt:lpstr>Этап планирования ПП – 2 части</vt:lpstr>
      <vt:lpstr>Этапы работ WBS</vt:lpstr>
      <vt:lpstr>Wbs по разРаработке ПП</vt:lpstr>
      <vt:lpstr>Wbs по разРаработке ПП</vt:lpstr>
      <vt:lpstr>Лента участия стейкхолдеров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Этап 1. Инициализация</dc:title>
  <dc:creator>Сухарев Павел Викторович</dc:creator>
  <cp:lastModifiedBy>Сухарев Павел Викторович</cp:lastModifiedBy>
  <cp:revision>34</cp:revision>
  <dcterms:created xsi:type="dcterms:W3CDTF">2025-11-04T05:00:11Z</dcterms:created>
  <dcterms:modified xsi:type="dcterms:W3CDTF">2025-11-11T14:25:48Z</dcterms:modified>
</cp:coreProperties>
</file>